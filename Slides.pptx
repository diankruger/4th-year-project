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2"/>
  </p:notesMasterIdLst>
  <p:sldIdLst>
    <p:sldId id="2767" r:id="rId5"/>
    <p:sldId id="258" r:id="rId6"/>
    <p:sldId id="261" r:id="rId7"/>
    <p:sldId id="257" r:id="rId8"/>
    <p:sldId id="269" r:id="rId9"/>
    <p:sldId id="260" r:id="rId10"/>
    <p:sldId id="2769" r:id="rId11"/>
    <p:sldId id="2768" r:id="rId12"/>
    <p:sldId id="2770" r:id="rId13"/>
    <p:sldId id="259" r:id="rId14"/>
    <p:sldId id="263" r:id="rId15"/>
    <p:sldId id="264" r:id="rId16"/>
    <p:sldId id="270" r:id="rId17"/>
    <p:sldId id="265" r:id="rId18"/>
    <p:sldId id="266" r:id="rId19"/>
    <p:sldId id="268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5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7/9/2026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899" y="3429000"/>
            <a:ext cx="10423641" cy="2621154"/>
          </a:xfrm>
        </p:spPr>
        <p:txBody>
          <a:bodyPr anchor="b">
            <a:noAutofit/>
          </a:bodyPr>
          <a:lstStyle/>
          <a:p>
            <a:pPr algn="ctr"/>
            <a:r>
              <a:rPr lang="en-US" sz="4000" dirty="0"/>
              <a:t>Planning as Autoregressive Sequence Modelling: Decoding Strategies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2151" y="413225"/>
            <a:ext cx="7685139" cy="1414091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By Dian Kruger and Shane Josias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fld id="{A2C196D7-201A-4A3A-B9FA-EDBCED2083FF}" type="datetime1">
              <a:rPr lang="en-US" noProof="0" smtClean="0"/>
              <a:t>7/9/2026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 lvl="0"/>
            <a:r>
              <a:rPr lang="en-US" noProof="0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/>
          <a:lstStyle/>
          <a:p>
            <a:r>
              <a:rPr lang="en-US" dirty="0"/>
              <a:t>What is planning?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/>
          <a:p>
            <a:r>
              <a:rPr lang="en-ZA" dirty="0"/>
              <a:t>Planning is deciding which actions to take, and in what order so that an environment changes from the initial state to the goal state.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6051-9A8D-AB51-EEFB-7677CCB2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D37E-812B-468F-B489-3911FC6F6723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6235-3D99-C9B4-4037-D7F62E83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59DC8A1D-42C9-FB11-ABBC-2DB89986275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597" b="7649"/>
          <a:stretch>
            <a:fillRect/>
          </a:stretch>
        </p:blipFill>
        <p:spPr>
          <a:xfrm>
            <a:off x="2688" y="62063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391" y="1350090"/>
            <a:ext cx="6035040" cy="1143000"/>
          </a:xfrm>
        </p:spPr>
        <p:txBody>
          <a:bodyPr/>
          <a:lstStyle/>
          <a:p>
            <a:r>
              <a:rPr lang="en-US" dirty="0"/>
              <a:t>Why learn planning from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3018503"/>
            <a:ext cx="6035040" cy="3106994"/>
          </a:xfrm>
        </p:spPr>
        <p:txBody>
          <a:bodyPr>
            <a:normAutofit/>
          </a:bodyPr>
          <a:lstStyle/>
          <a:p>
            <a:r>
              <a:rPr lang="en-ZA" dirty="0"/>
              <a:t>Machines can learn to automatically solve planning problems.</a:t>
            </a:r>
          </a:p>
          <a:p>
            <a:r>
              <a:rPr lang="en-ZA" dirty="0"/>
              <a:t>This can be done through trial and error, using techniques like reinforcement learning.</a:t>
            </a:r>
          </a:p>
          <a:p>
            <a:r>
              <a:rPr lang="en-US" dirty="0"/>
              <a:t>Learning through trial and error can be risky in </a:t>
            </a:r>
            <a:r>
              <a:rPr lang="en-ZA" dirty="0"/>
              <a:t>safety-critical or expensive settings.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8E80-2392-A58F-EEB2-EE633788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76D00-6106-43BB-8923-18C7A7C520E4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A2F1-CC44-35CF-7A34-1B814A19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BA4FC5A-6CAE-E819-40E0-DC046C5E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38" b="26284"/>
          <a:stretch>
            <a:fillRect/>
          </a:stretch>
        </p:blipFill>
        <p:spPr>
          <a:xfrm>
            <a:off x="339673" y="716677"/>
            <a:ext cx="4956625" cy="21248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7DBFE00-5AE3-DAFF-ADFB-7ECA63EA3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72" y="2894550"/>
            <a:ext cx="4956625" cy="330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>
            <a:normAutofit/>
          </a:bodyPr>
          <a:lstStyle/>
          <a:p>
            <a:r>
              <a:rPr lang="en-US" sz="5400" dirty="0"/>
              <a:t>This work’s planning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9675" y="2799826"/>
            <a:ext cx="5202936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environment is a discrete 2D maze represented as a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 move can go only up, down, left, or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A start square and a goal square is given.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objective is to generate a valid sequence of moves that reaches the goal without passing through walls.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B84902-E785-8F5B-B935-EAF5A17D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35" y="2331411"/>
            <a:ext cx="3590606" cy="356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Imitation learning in the maze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61AE3-EE8B-D6AA-C542-739A0791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5C81-4B4A-4C1A-B255-174CB9D3D2A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A715D-0DE7-5C1E-A01B-3CC861FF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FFB69D8-516E-7C15-C374-333935BF2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371" t="25402" r="3015" b="7606"/>
          <a:stretch>
            <a:fillRect/>
          </a:stretch>
        </p:blipFill>
        <p:spPr>
          <a:xfrm>
            <a:off x="821724" y="1814552"/>
            <a:ext cx="10343927" cy="411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1373507"/>
          </a:xfrm>
        </p:spPr>
        <p:txBody>
          <a:bodyPr>
            <a:normAutofit/>
          </a:bodyPr>
          <a:lstStyle/>
          <a:p>
            <a:r>
              <a:rPr lang="en-US" sz="4400" dirty="0"/>
              <a:t>Generative modelling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4752B4-2BB2-523B-315F-8AF42556E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844" y="1396644"/>
            <a:ext cx="3676130" cy="5180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292EDC-94B2-7670-DD1E-F82210745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349" y="1631758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93CC-7878-3F9C-490A-BA8D866A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9AB6-DB6C-D776-4013-DDE4C8317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75" y="5622668"/>
            <a:ext cx="10729725" cy="1389888"/>
          </a:xfrm>
        </p:spPr>
        <p:txBody>
          <a:bodyPr>
            <a:normAutofit/>
          </a:bodyPr>
          <a:lstStyle/>
          <a:p>
            <a:r>
              <a:rPr lang="en-ZA" dirty="0"/>
              <a:t>Autoregressive sequence modelling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7D946-7418-59A3-2925-ED8A62A8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D37E-812B-468F-B489-3911FC6F6723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FC443-63FB-19A8-FBB5-563A9B35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330D7-F498-4AFE-55A9-2B2FA2DA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CFDC81-3919-BACE-B0DB-026BB306D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75"/>
          <a:stretch>
            <a:fillRect/>
          </a:stretch>
        </p:blipFill>
        <p:spPr>
          <a:xfrm>
            <a:off x="1313109" y="885074"/>
            <a:ext cx="9565781" cy="430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1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8ADF-C73D-B52F-091C-81EED860C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7"/>
            <a:ext cx="7914087" cy="1039210"/>
          </a:xfrm>
        </p:spPr>
        <p:txBody>
          <a:bodyPr>
            <a:normAutofit/>
          </a:bodyPr>
          <a:lstStyle/>
          <a:p>
            <a:r>
              <a:rPr lang="en-ZA" sz="4000" dirty="0"/>
              <a:t>Decoding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EFA78-484F-5F22-6C55-1FE43C668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1D09-6B76-4716-AD3D-9F53166D3BF5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32C5E-9A2F-16CE-72CD-23996D22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2F5BB-B1BC-45BD-69E1-71A49FE8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4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16A5B-3571-7354-43CA-A48BB8FFC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4DA6-4528-62DB-9DFC-8C0C9B4E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 decoding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86147-0C41-CB5B-5298-369A21249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5C81-4B4A-4C1A-B255-174CB9D3D2AE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37CDB-9584-1C13-B8D1-93E9AD97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240C3-32B4-9068-48BD-FC4D50A8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D72352-CEE4-F3B0-7132-FC803DAF4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596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524002"/>
            <a:ext cx="9198864" cy="2871216"/>
          </a:xfrm>
        </p:spPr>
        <p:txBody>
          <a:bodyPr/>
          <a:lstStyle/>
          <a:p>
            <a:r>
              <a:rPr lang="en-US" dirty="0"/>
              <a:t>“They may forget what you said, but they will never forget how you made them feel.”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6822A-D1D9-EA6C-D8F4-6F6AB9565D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9616" y="5376672"/>
            <a:ext cx="9198864" cy="466344"/>
          </a:xfrm>
        </p:spPr>
        <p:txBody>
          <a:bodyPr/>
          <a:lstStyle/>
          <a:p>
            <a:r>
              <a:rPr lang="en-US" dirty="0"/>
              <a:t>– Carl W. Buechner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0E4A-2DA7-367F-889E-11AF801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6E4F-8270-497D-A4DE-9B37A9C4BC1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200-7BBC-B1AA-6E27-4596490E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visuals matter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Studies show that 35% of an audience’s retention rate is attributed to visuals, so use these best practices.</a:t>
            </a:r>
          </a:p>
          <a:p>
            <a:pPr marL="0" indent="0">
              <a:buNone/>
            </a:pPr>
            <a:r>
              <a:rPr lang="en-US" sz="1800" b="1" dirty="0"/>
              <a:t>Use high-quality images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Avoid stock photos that feel overused. Use animated images sparingly. Motion should enhance, not distract.</a:t>
            </a:r>
          </a:p>
          <a:p>
            <a:pPr marL="0" indent="0">
              <a:buNone/>
            </a:pPr>
            <a:r>
              <a:rPr lang="en-US" sz="1800" b="1" dirty="0"/>
              <a:t>Leverage infographics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Present complex data in an easy-to-digest format.</a:t>
            </a:r>
          </a:p>
          <a:p>
            <a:pPr marL="0" indent="0">
              <a:buNone/>
            </a:pPr>
            <a:r>
              <a:rPr lang="en-US" sz="1800" b="1" dirty="0"/>
              <a:t>Keep text minimal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Slides should support your speech, not replace it.</a:t>
            </a:r>
          </a:p>
          <a:p>
            <a:pPr marL="0" indent="0">
              <a:buNone/>
            </a:pPr>
            <a:r>
              <a:rPr lang="en-US" sz="1800" b="1" dirty="0"/>
              <a:t>Use brand colors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Maintain consistency in fonts and color palettes for professionalism.</a:t>
            </a:r>
          </a:p>
        </p:txBody>
      </p:sp>
      <p:pic>
        <p:nvPicPr>
          <p:cNvPr id="9" name="Picture Placeholder 8" descr="A group of wood blocks">
            <a:extLst>
              <a:ext uri="{FF2B5EF4-FFF2-40B4-BE49-F238E27FC236}">
                <a16:creationId xmlns:a16="http://schemas.microsoft.com/office/drawing/2014/main" id="{606BD1CA-C191-4496-8931-F725453418B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F804B-D6FC-83A9-36FC-E721C009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35%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of an audience’s retention rate is attributed to the visuals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EABE-3580-5671-50D4-25E706E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8514-CB2E-43FF-940B-F99B0EA9BFC0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29139-7FC6-888D-5CC9-C5B5E32F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/>
          <a:lstStyle/>
          <a:p>
            <a:r>
              <a:rPr lang="en-US" dirty="0"/>
              <a:t>Delivering with 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/>
          <a:lstStyle/>
          <a:p>
            <a:r>
              <a:rPr lang="en-US" dirty="0"/>
              <a:t>Keeping your audience engaged through effective techniques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490C-0AC8-DB82-0D8F-BF8C4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A4C37-2120-C1F6-AF98-9C441568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pic>
        <p:nvPicPr>
          <p:cNvPr id="7" name="Picture Placeholder 6" descr="A close-up of a sand dune">
            <a:extLst>
              <a:ext uri="{FF2B5EF4-FFF2-40B4-BE49-F238E27FC236}">
                <a16:creationId xmlns:a16="http://schemas.microsoft.com/office/drawing/2014/main" id="{3C37CE0E-074A-209D-2D43-EC5FAC327C3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Your delivery can make or break your presentation. Focus on the following techniques.</a:t>
            </a:r>
          </a:p>
          <a:p>
            <a:pPr marL="0" indent="0">
              <a:buNone/>
            </a:pPr>
            <a:r>
              <a:rPr lang="en-US" sz="1800" b="1" dirty="0"/>
              <a:t>Voice modulation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Vary pitch, tone, and volume to emphasize key points. Pause strategically as silence builds anticipation.</a:t>
            </a:r>
          </a:p>
          <a:p>
            <a:pPr marL="0" indent="0">
              <a:buNone/>
            </a:pPr>
            <a:r>
              <a:rPr lang="en-US" sz="1800" b="1" dirty="0"/>
              <a:t>Body language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Maintain open gestures and avoid crossing your arms. Move naturally. Step forward when making a strong point.</a:t>
            </a:r>
          </a:p>
          <a:p>
            <a:pPr marL="0" indent="0">
              <a:buNone/>
            </a:pPr>
            <a:r>
              <a:rPr lang="en-US" sz="1800" b="1" dirty="0"/>
              <a:t>Non-verbal cues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Look for cues (like nodding and note-taking) that show that your audience is engaged.</a:t>
            </a:r>
          </a:p>
          <a:p>
            <a:pPr marL="0" indent="0">
              <a:buNone/>
            </a:pPr>
            <a:r>
              <a:rPr lang="en-US" sz="1800" b="1" dirty="0"/>
              <a:t>Additional tips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Be confident, rehearse aloud, and show enthusiasm.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179B-16F5-B0EA-D1AC-99441213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F5D8-D5B8-4089-B8CF-3C65B488B2D1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DF91-6465-ADEF-7133-CCC32858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dirty="0"/>
              <a:t>Delivering with confidence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3464" y="1596767"/>
            <a:ext cx="9537192" cy="41422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Meaningful eye contact, purposeful gestures, and good posture can enhance your message and make it more memorable.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41BF0-B686-A29F-997F-508B0252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5E90F-DD16-4D07-98B2-5ADD02240C41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0EF4-0955-7408-3882-4FDCAF3F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3CCF-A463-89C5-41C7-D943D69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/>
          <a:lstStyle/>
          <a:p>
            <a:r>
              <a:rPr lang="en-US" dirty="0"/>
              <a:t>Start with a hook and a clear purpose. Engage your audience using eye contact, storytelling, and questions. Design slides that enhance your message, not distract. And deliver with confidence.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6F15B-92C0-806D-7631-A3635A4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AFF9-B37A-4509-BBAB-27DBFDFA26B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DC08D-8457-0839-8C25-A7C068F9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6681B-5E1B-BD2B-6960-3B46EFE8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/>
          <a:lstStyle/>
          <a:p>
            <a:r>
              <a:rPr lang="en-US" dirty="0"/>
              <a:t>Use this portion of your presentation to answer audience questions.</a:t>
            </a:r>
          </a:p>
        </p:txBody>
      </p:sp>
      <p:pic>
        <p:nvPicPr>
          <p:cNvPr id="15" name="Picture Placeholder 14" descr="A close-up of a desert">
            <a:extLst>
              <a:ext uri="{FF2B5EF4-FFF2-40B4-BE49-F238E27FC236}">
                <a16:creationId xmlns:a16="http://schemas.microsoft.com/office/drawing/2014/main" id="{A52016E5-43C0-59E9-C7D5-5F2E24721B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733150" cy="513580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7696-CC61-C5A5-6C0C-BC554FB6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70B-54FF-401A-804E-64B53FFEC9A3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C9FFD-93B6-D3DC-72EF-DBAF2803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8C8-C838-438B-F934-0218EC2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{3E650A2B-8A82-45A5-9838-E0D8EDC68903}05f950ec-c865-457c-93ae-9eb2ef1c603f-TFa19fa653-f273-4169-96ef-448bb1cd1027_win32</Template>
  <TotalTime>1661</TotalTime>
  <Words>544</Words>
  <Application>Microsoft Office PowerPoint</Application>
  <PresentationFormat>Widescreen</PresentationFormat>
  <Paragraphs>103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Neue Haas Grotesk Text Pro</vt:lpstr>
      <vt:lpstr>OasisVTI</vt:lpstr>
      <vt:lpstr>Planning as Autoregressive Sequence Modelling: Decoding Strategies</vt:lpstr>
      <vt:lpstr>What is planning?</vt:lpstr>
      <vt:lpstr>Why learn planning from data?</vt:lpstr>
      <vt:lpstr>This work’s planning problem</vt:lpstr>
      <vt:lpstr>Imitation learning in the maze</vt:lpstr>
      <vt:lpstr>Generative modelling</vt:lpstr>
      <vt:lpstr>Autoregressive sequence modelling</vt:lpstr>
      <vt:lpstr>Decoding algorithms</vt:lpstr>
      <vt:lpstr>Greedy decoding</vt:lpstr>
      <vt:lpstr>“They may forget what you said, but they will never forget how you made them feel.”</vt:lpstr>
      <vt:lpstr>Why visuals matter</vt:lpstr>
      <vt:lpstr>35%</vt:lpstr>
      <vt:lpstr>Delivering with impact</vt:lpstr>
      <vt:lpstr>Effective delivery techniques</vt:lpstr>
      <vt:lpstr>Delivering with confidence </vt:lpstr>
      <vt:lpstr>Conclusion 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Kruger, D, Mr [27127699@sun.ac.za]</dc:creator>
  <cp:lastModifiedBy>Kruger, D, Mr [27127699@sun.ac.za]</cp:lastModifiedBy>
  <cp:revision>5</cp:revision>
  <dcterms:created xsi:type="dcterms:W3CDTF">2026-07-03T09:26:06Z</dcterms:created>
  <dcterms:modified xsi:type="dcterms:W3CDTF">2026-07-10T09:45:23Z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