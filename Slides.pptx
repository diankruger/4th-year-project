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9"/>
  </p:notesMasterIdLst>
  <p:sldIdLst>
    <p:sldId id="2767" r:id="rId5"/>
    <p:sldId id="258" r:id="rId6"/>
    <p:sldId id="261" r:id="rId7"/>
    <p:sldId id="257" r:id="rId8"/>
    <p:sldId id="269" r:id="rId9"/>
    <p:sldId id="260" r:id="rId10"/>
    <p:sldId id="2769" r:id="rId11"/>
    <p:sldId id="2768" r:id="rId12"/>
    <p:sldId id="2770" r:id="rId13"/>
    <p:sldId id="2771" r:id="rId14"/>
    <p:sldId id="263" r:id="rId15"/>
    <p:sldId id="265" r:id="rId16"/>
    <p:sldId id="2772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7/9/2026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072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351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0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6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9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7" r:id="rId2"/>
    <p:sldLayoutId id="2147483740" r:id="rId3"/>
    <p:sldLayoutId id="2147483686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3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899" y="3429000"/>
            <a:ext cx="10423641" cy="2621154"/>
          </a:xfrm>
        </p:spPr>
        <p:txBody>
          <a:bodyPr anchor="b">
            <a:noAutofit/>
          </a:bodyPr>
          <a:lstStyle/>
          <a:p>
            <a:pPr algn="ctr"/>
            <a:r>
              <a:rPr lang="en-US" sz="4000" dirty="0"/>
              <a:t>Planning as Autoregressive Sequence Modelling: Decoding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2151" y="413225"/>
            <a:ext cx="7685139" cy="1414091"/>
          </a:xfrm>
        </p:spPr>
        <p:txBody>
          <a:bodyPr anchor="t">
            <a:normAutofit/>
          </a:bodyPr>
          <a:lstStyle/>
          <a:p>
            <a:pPr algn="ctr"/>
            <a:r>
              <a:rPr lang="en-US" dirty="0"/>
              <a:t>By Dian Kruger and Shane Josias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B60C5C2-A596-7FEB-7260-D4D75F7F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7/9/2026</a:t>
            </a:fld>
            <a:endParaRPr lang="en-US" noProof="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247F861-42CF-FE05-F8FD-7EBB0D7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/>
          <a:lstStyle/>
          <a:p>
            <a:r>
              <a:rPr lang="en-US" dirty="0"/>
              <a:t>What is planning?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/>
          </a:bodyPr>
          <a:lstStyle/>
          <a:p>
            <a:r>
              <a:rPr lang="en-ZA" dirty="0"/>
              <a:t>Planning is deciding which actions to take, and in what order so that an environment changes from the initial state to the goal state.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6051-9A8D-AB51-EEFB-7677CCB2B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FC93-FE33-B17E-E50C-7ED72B63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D19C0D14-551C-6902-65E3-855D7DC74CE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t="8715" b="8715"/>
          <a:stretch/>
        </p:blipFill>
        <p:spPr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3391" y="1350090"/>
            <a:ext cx="6035040" cy="1143000"/>
          </a:xfrm>
        </p:spPr>
        <p:txBody>
          <a:bodyPr/>
          <a:lstStyle/>
          <a:p>
            <a:r>
              <a:rPr lang="en-US" dirty="0"/>
              <a:t>Why learn planning from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70B6-B9DD-8293-E045-C9E0BE21FE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3018503"/>
            <a:ext cx="6035040" cy="3106994"/>
          </a:xfrm>
        </p:spPr>
        <p:txBody>
          <a:bodyPr>
            <a:normAutofit/>
          </a:bodyPr>
          <a:lstStyle/>
          <a:p>
            <a:r>
              <a:rPr lang="en-ZA" dirty="0"/>
              <a:t>Machines can learn to automatically solve planning problems.</a:t>
            </a:r>
          </a:p>
          <a:p>
            <a:r>
              <a:rPr lang="en-ZA" dirty="0"/>
              <a:t>This can be done through trial and error, using techniques like reinforcement learning.</a:t>
            </a:r>
          </a:p>
          <a:p>
            <a:r>
              <a:rPr lang="en-US" dirty="0"/>
              <a:t>Learning through trial and error can be risky in </a:t>
            </a:r>
            <a:r>
              <a:rPr lang="en-ZA" dirty="0"/>
              <a:t>safety-critical or expensive settings.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08E80-2392-A58F-EEB2-EE633788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76D00-6106-43BB-8923-18C7A7C520E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FBC74-35D9-C062-A1B7-A5F83C6D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BA4FC5A-6CAE-E819-40E0-DC046C5E2B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38" b="26284"/>
          <a:stretch>
            <a:fillRect/>
          </a:stretch>
        </p:blipFill>
        <p:spPr>
          <a:xfrm>
            <a:off x="339673" y="716677"/>
            <a:ext cx="4956625" cy="212484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DBFE00-5AE3-DAFF-ADFB-7ECA63EA3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72" y="2894550"/>
            <a:ext cx="4956625" cy="330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>
            <a:normAutofit/>
          </a:bodyPr>
          <a:lstStyle/>
          <a:p>
            <a:r>
              <a:rPr lang="en-US" sz="5400" dirty="0"/>
              <a:t>This work’s planning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9675" y="2799826"/>
            <a:ext cx="5202936" cy="38587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The environment is a discrete 2D maze represented as a grid.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A move can go only up, down, left, or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A start square and a goal square is given.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The objective is to generate a valid sequence of moves that reaches the goal without passing through walls.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602D5-209F-C183-95CC-735D34DC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0712A-E8AC-4933-9DE4-16CA7BD51374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DC894-A40D-FD0D-CF41-FEE5AF09B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84902-E785-8F5B-B935-EAF5A17D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735" y="2331411"/>
            <a:ext cx="3590606" cy="356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2400-94AD-31F6-37F1-0D939219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50A7-8097-B5C9-4E58-9ED8D14AD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ZA" dirty="0"/>
              <a:t>Imitation learning in the maze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61AE3-EE8B-D6AA-C542-739A0791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20D08B-C7CA-70C3-F459-4B8F8CFD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9FFB69D8-516E-7C15-C374-333935BF2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371" t="25402" r="3015" b="7606"/>
          <a:stretch>
            <a:fillRect/>
          </a:stretch>
        </p:blipFill>
        <p:spPr>
          <a:xfrm>
            <a:off x="821724" y="1814552"/>
            <a:ext cx="10343927" cy="411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372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1373507"/>
          </a:xfrm>
        </p:spPr>
        <p:txBody>
          <a:bodyPr>
            <a:normAutofit/>
          </a:bodyPr>
          <a:lstStyle/>
          <a:p>
            <a:r>
              <a:rPr lang="en-US" sz="4400" dirty="0"/>
              <a:t>Generative modelling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E3DB6-9604-119A-147D-87313E70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2E664-B024-4B15-A27C-3009EED3249B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67AE3-F49B-E352-A529-8E3AAB9E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6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4752B4-2BB2-523B-315F-8AF42556E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844" y="1396644"/>
            <a:ext cx="3676130" cy="5180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8292EDC-94B2-7670-DD1E-F82210745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349" y="1631758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93CC-7878-3F9C-490A-BA8D866AA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C9AB6-DB6C-D776-4013-DDE4C8317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75" y="5622668"/>
            <a:ext cx="10729725" cy="1389888"/>
          </a:xfrm>
        </p:spPr>
        <p:txBody>
          <a:bodyPr>
            <a:normAutofit/>
          </a:bodyPr>
          <a:lstStyle/>
          <a:p>
            <a:r>
              <a:rPr lang="en-ZA" dirty="0"/>
              <a:t>Autoregressive sequence modelling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7D946-7418-59A3-2925-ED8A62A82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7/10/2026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2330D7-F498-4AFE-55A9-2B2FA2DA2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4CFDC81-3919-BACE-B0DB-026BB306DB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975"/>
          <a:stretch>
            <a:fillRect/>
          </a:stretch>
        </p:blipFill>
        <p:spPr>
          <a:xfrm>
            <a:off x="1313109" y="885074"/>
            <a:ext cx="9565781" cy="430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15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B8ADF-C73D-B52F-091C-81EED860C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7"/>
            <a:ext cx="7914087" cy="1039210"/>
          </a:xfrm>
        </p:spPr>
        <p:txBody>
          <a:bodyPr>
            <a:normAutofit/>
          </a:bodyPr>
          <a:lstStyle/>
          <a:p>
            <a:r>
              <a:rPr lang="en-ZA" sz="4000" dirty="0"/>
              <a:t>Decoding algorithms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EFA78-484F-5F22-6C55-1FE43C66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1D09-6B76-4716-AD3D-9F53166D3BF5}" type="datetime1">
              <a:rPr lang="en-US" smtClean="0"/>
              <a:t>7/10/2026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2F5BB-B1BC-45BD-69E1-71A49FE89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2DF5C0-157E-6BBF-81F6-6B47F172EE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45" t="13477" r="26130" b="9821"/>
          <a:stretch>
            <a:fillRect/>
          </a:stretch>
        </p:blipFill>
        <p:spPr>
          <a:xfrm>
            <a:off x="3273131" y="1230266"/>
            <a:ext cx="5733218" cy="526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40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6A5B-3571-7354-43CA-A48BB8FFC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E4DA6-4528-62DB-9DFC-8C0C9B4E4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Greedy decoding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86147-0C41-CB5B-5298-369A2124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7/10/2026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240C3-32B4-9068-48BD-FC4D50A8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9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A32FB92-FCF3-8FA8-23DA-959E14E519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266" b="24160"/>
          <a:stretch>
            <a:fillRect/>
          </a:stretch>
        </p:blipFill>
        <p:spPr>
          <a:xfrm>
            <a:off x="1213122" y="2174989"/>
            <a:ext cx="9581066" cy="326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6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0FF55-DA12-474B-B04B-C513F183C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B9B32-329A-A142-5227-6F80E9CEB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Beam search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712A4A-D3AD-0497-0639-690A3A494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7/10/2026</a:t>
            </a:fld>
            <a:endParaRPr lang="en-US" dirty="0"/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AFE519F3-8316-72AD-43E9-4EFEBDC4B4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4575" y="1384300"/>
            <a:ext cx="7358062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987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Evaluation metrics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Completion Rate</a:t>
            </a:r>
          </a:p>
          <a:p>
            <a:r>
              <a:rPr lang="en-US" dirty="0"/>
              <a:t>Average Steps to Goal</a:t>
            </a:r>
          </a:p>
          <a:p>
            <a:r>
              <a:rPr lang="en-US" dirty="0"/>
              <a:t>Total Compute Time</a:t>
            </a:r>
          </a:p>
          <a:p>
            <a:r>
              <a:rPr lang="en-US" sz="1800" dirty="0"/>
              <a:t>Average Time per Step</a:t>
            </a:r>
          </a:p>
        </p:txBody>
      </p:sp>
      <p:pic>
        <p:nvPicPr>
          <p:cNvPr id="9" name="Picture Placeholder 8" descr="A group of wood blocks">
            <a:extLst>
              <a:ext uri="{FF2B5EF4-FFF2-40B4-BE49-F238E27FC236}">
                <a16:creationId xmlns:a16="http://schemas.microsoft.com/office/drawing/2014/main" id="{606BD1CA-C191-4496-8931-F725453418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05E06-DEAE-0DD1-4D36-DFAC6C7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A4445-5DD2-41DC-BDE3-6A90E266904E}" type="datetime1">
              <a:rPr lang="en-US" smtClean="0"/>
              <a:t>7/9/2026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Dataset and evaluation approach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637022-DCFB-D715-6963-519C0744D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671" y="95807"/>
            <a:ext cx="6853084" cy="3892307"/>
          </a:xfrm>
          <a:prstGeom prst="rect">
            <a:avLst/>
          </a:prstGeom>
        </p:spPr>
      </p:pic>
      <p:pic>
        <p:nvPicPr>
          <p:cNvPr id="20" name="Picture 19" descr="Cross-Validation in Machine Learning: Enhancing Model Performance with  Confidence | by Shubham Sangole | Python in Plain English">
            <a:extLst>
              <a:ext uri="{FF2B5EF4-FFF2-40B4-BE49-F238E27FC236}">
                <a16:creationId xmlns:a16="http://schemas.microsoft.com/office/drawing/2014/main" id="{4C90AECA-D406-82D3-3B1C-BBCCFB2495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226" b="11574"/>
          <a:stretch>
            <a:fillRect/>
          </a:stretch>
        </p:blipFill>
        <p:spPr>
          <a:xfrm>
            <a:off x="5948516" y="4265189"/>
            <a:ext cx="4729997" cy="19465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EFA499B-6479-5759-BC07-6A920825A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9" y="2251469"/>
            <a:ext cx="3590855" cy="357256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3A773D6-620F-A595-6B4F-C3AB8858190A}"/>
              </a:ext>
            </a:extLst>
          </p:cNvPr>
          <p:cNvSpPr txBox="1"/>
          <p:nvPr/>
        </p:nvSpPr>
        <p:spPr>
          <a:xfrm>
            <a:off x="1072522" y="5932890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example of a training trajectory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1C8F4F-582B-83FC-7F29-20EB68ACBA35}"/>
              </a:ext>
            </a:extLst>
          </p:cNvPr>
          <p:cNvSpPr txBox="1"/>
          <p:nvPr/>
        </p:nvSpPr>
        <p:spPr>
          <a:xfrm>
            <a:off x="7163606" y="3989047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The eight maze layouts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B024FC-4C75-3495-95DA-43136A1F69C9}"/>
              </a:ext>
            </a:extLst>
          </p:cNvPr>
          <p:cNvSpPr txBox="1"/>
          <p:nvPr/>
        </p:nvSpPr>
        <p:spPr>
          <a:xfrm>
            <a:off x="7099789" y="6209889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5-fold cross validation </a:t>
            </a:r>
          </a:p>
        </p:txBody>
      </p:sp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3383F-E446-BF47-55B5-BCEBBC8F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9176-D1DD-0103-09B3-65170FC8D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948" y="505658"/>
            <a:ext cx="7914087" cy="1039210"/>
          </a:xfrm>
        </p:spPr>
        <p:txBody>
          <a:bodyPr>
            <a:normAutofit/>
          </a:bodyPr>
          <a:lstStyle/>
          <a:p>
            <a:r>
              <a:rPr lang="en-ZA" sz="4000" dirty="0"/>
              <a:t>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67E27-D60E-C692-9F08-F66276C86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1D09-6B76-4716-AD3D-9F53166D3BF5}" type="datetime1">
              <a:rPr lang="en-US" smtClean="0"/>
              <a:t>7/10/2026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392F8-2CFF-E932-616A-8669A9EEC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399AA6-0D2D-9887-248A-56253F93B1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22" t="-2487" r="47598" b="50000"/>
          <a:stretch>
            <a:fillRect/>
          </a:stretch>
        </p:blipFill>
        <p:spPr>
          <a:xfrm>
            <a:off x="246405" y="3854323"/>
            <a:ext cx="3677396" cy="26853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94C504-17AF-2156-0895-AC5CED4E33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" t="29412" r="2725" b="20738"/>
          <a:stretch>
            <a:fillRect/>
          </a:stretch>
        </p:blipFill>
        <p:spPr>
          <a:xfrm>
            <a:off x="4068959" y="1544868"/>
            <a:ext cx="7961230" cy="17236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A2E39A-10AA-0BE9-4A65-2ECFA2BB17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512" r="49958"/>
          <a:stretch>
            <a:fillRect/>
          </a:stretch>
        </p:blipFill>
        <p:spPr>
          <a:xfrm>
            <a:off x="8036976" y="3989197"/>
            <a:ext cx="3488483" cy="26053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86E5941-6F0B-D348-8D5D-994B491E2B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60"/>
          <a:stretch>
            <a:fillRect/>
          </a:stretch>
        </p:blipFill>
        <p:spPr>
          <a:xfrm>
            <a:off x="246405" y="1109113"/>
            <a:ext cx="3677396" cy="27452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43B24F-3256-6B3A-2B92-73A37749D0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58" t="-2487" r="-1222" b="50000"/>
          <a:stretch>
            <a:fillRect/>
          </a:stretch>
        </p:blipFill>
        <p:spPr>
          <a:xfrm>
            <a:off x="4142427" y="3848363"/>
            <a:ext cx="3677396" cy="274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126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6BA28-7B5B-3D59-0D23-C072A5C2A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1166649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3BCF-B6AE-B157-B5A8-60575A5F5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126728"/>
            <a:ext cx="7914087" cy="401194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Test how strongly the results depend on training on optimal trajectories.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Compare additional decoding strategies beyond greedy and beam search.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Explore combining model probabilities with reward-based guidance during decoding.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9490C-0AC8-DB82-0D8F-BF8C4A553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EE0C6-06DB-432B-A080-77CD90ED5127}" type="datetime1">
              <a:rPr lang="en-US" smtClean="0"/>
              <a:t>7/9/2026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62AC7-4EBD-6C7B-71E2-19F58FD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30561"/>
      </p:ext>
    </p:extLst>
  </p:cSld>
  <p:clrMapOvr>
    <a:masterClrMapping/>
  </p:clrMapOvr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{3E650A2B-8A82-45A5-9838-E0D8EDC68903}05f950ec-c865-457c-93ae-9eb2ef1c603f-TFa19fa653-f273-4169-96ef-448bb1cd1027_win32</Template>
  <TotalTime>1813</TotalTime>
  <Words>255</Words>
  <Application>Microsoft Office PowerPoint</Application>
  <PresentationFormat>Widescreen</PresentationFormat>
  <Paragraphs>59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OasisVTI</vt:lpstr>
      <vt:lpstr>Planning as Autoregressive Sequence Modelling: Decoding Strategies</vt:lpstr>
      <vt:lpstr>What is planning?</vt:lpstr>
      <vt:lpstr>Why learn planning from data?</vt:lpstr>
      <vt:lpstr>This work’s planning problem</vt:lpstr>
      <vt:lpstr>Imitation learning in the maze</vt:lpstr>
      <vt:lpstr>Generative modelling</vt:lpstr>
      <vt:lpstr>Autoregressive sequence modelling</vt:lpstr>
      <vt:lpstr>Decoding algorithms</vt:lpstr>
      <vt:lpstr>Greedy decoding</vt:lpstr>
      <vt:lpstr>Beam search</vt:lpstr>
      <vt:lpstr>Evaluation metrics</vt:lpstr>
      <vt:lpstr>Dataset and evaluation approach</vt:lpstr>
      <vt:lpstr>results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Kruger, D, Mr [27127699@sun.ac.za]</dc:creator>
  <cp:lastModifiedBy>Kruger, D, Mr [27127699@sun.ac.za]</cp:lastModifiedBy>
  <cp:revision>13</cp:revision>
  <dcterms:created xsi:type="dcterms:W3CDTF">2026-07-03T09:26:06Z</dcterms:created>
  <dcterms:modified xsi:type="dcterms:W3CDTF">2026-07-10T12:16:47Z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